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6266"/>
  </p:normalViewPr>
  <p:slideViewPr>
    <p:cSldViewPr snapToGrid="0" snapToObjects="1">
      <p:cViewPr varScale="1">
        <p:scale>
          <a:sx n="161" d="100"/>
          <a:sy n="161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84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Users/jonathanmosedale/Library/CloudStorage/OneDrive-UniversityofExeter/MetOffice_cowork_indicators/html_dashboards/indicator_finder_v4.html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02920"/>
            <a:ext cx="5943600" cy="3218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128016"/>
            <a:ext cx="5120640" cy="5015484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/sessions/beautiful-optimistic-knuth/mnt/outputs/assets/mo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"/>
            <a:ext cx="1554480" cy="4892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7338" y="14036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OFFICE SCIENCE  ·  CLIMATE–NATURE POLICY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47338" y="1787652"/>
            <a:ext cx="4873302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493776" y="4160520"/>
            <a:ext cx="640080" cy="0"/>
          </a:xfrm>
          <a:prstGeom prst="line">
            <a:avLst/>
          </a:prstGeom>
          <a:noFill/>
          <a:ln w="38100">
            <a:solidFill>
              <a:srgbClr val="C4E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43159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C7C7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Mosedale; Deborah Hemming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7">
            <a:extLst>
              <a:ext uri="{FF2B5EF4-FFF2-40B4-BE49-F238E27FC236}">
                <a16:creationId xmlns:a16="http://schemas.microsoft.com/office/drawing/2014/main" id="{F0208C89-4060-9A42-F31B-2EE8CFC6F1D3}"/>
              </a:ext>
            </a:extLst>
          </p:cNvPr>
          <p:cNvSpPr/>
          <p:nvPr/>
        </p:nvSpPr>
        <p:spPr>
          <a:xfrm flipV="1">
            <a:off x="2508738" y="1874519"/>
            <a:ext cx="1651782" cy="1133855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elements of the approach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48840" y="3063240"/>
            <a:ext cx="2011680" cy="0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48840" y="3063240"/>
            <a:ext cx="2011680" cy="1170432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34440" y="2148840"/>
            <a:ext cx="1828800" cy="1828800"/>
          </a:xfrm>
          <a:prstGeom prst="ellipse">
            <a:avLst/>
          </a:prstGeom>
          <a:solidFill>
            <a:srgbClr val="2A2A2A"/>
          </a:solidFill>
          <a:ln w="31750">
            <a:solidFill>
              <a:srgbClr val="C4E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2148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60520" y="1481328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61688" y="1645920"/>
            <a:ext cx="566928" cy="566928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6168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20640" y="157276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data/science informs policy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indicators used to monitor and assess policy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263347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61688" y="2798064"/>
            <a:ext cx="566928" cy="566928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61688" y="2798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120640" y="27249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policy landscape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policy activity is happening and how are different activities related?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60520" y="3785616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61688" y="3950208"/>
            <a:ext cx="566928" cy="566928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6168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120640" y="387705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research fields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applications of current and potential Met Office research</a:t>
            </a:r>
            <a:endParaRPr lang="en-US" sz="14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59AD3CA-3B13-28A7-D514-CE0D8CBDC6B8}"/>
              </a:ext>
            </a:extLst>
          </p:cNvPr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38BBE811-47E1-5C94-3C06-9900CE886DFA}"/>
              </a:ext>
            </a:extLst>
          </p:cNvPr>
          <p:cNvSpPr/>
          <p:nvPr/>
        </p:nvSpPr>
        <p:spPr>
          <a:xfrm>
            <a:off x="274320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7">
            <a:extLst>
              <a:ext uri="{FF2B5EF4-FFF2-40B4-BE49-F238E27FC236}">
                <a16:creationId xmlns:a16="http://schemas.microsoft.com/office/drawing/2014/main" id="{177C3527-D382-8172-2696-F5EF67C68A9D}"/>
              </a:ext>
            </a:extLst>
          </p:cNvPr>
          <p:cNvSpPr/>
          <p:nvPr/>
        </p:nvSpPr>
        <p:spPr>
          <a:xfrm flipV="1">
            <a:off x="2301240" y="1892808"/>
            <a:ext cx="1859280" cy="1322832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· EVIDENCE SOURCES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evidence comes from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48840" y="3063240"/>
            <a:ext cx="2011680" cy="0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48840" y="3063240"/>
            <a:ext cx="2011680" cy="1170432"/>
          </a:xfrm>
          <a:prstGeom prst="line">
            <a:avLst/>
          </a:prstGeom>
          <a:noFill/>
          <a:ln w="15875">
            <a:solidFill>
              <a:srgbClr val="6B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34440" y="2148840"/>
            <a:ext cx="1828800" cy="1828800"/>
          </a:xfrm>
          <a:prstGeom prst="ellipse">
            <a:avLst/>
          </a:prstGeom>
          <a:solidFill>
            <a:srgbClr val="2A2A2A"/>
          </a:solidFill>
          <a:ln w="31750">
            <a:solidFill>
              <a:srgbClr val="C4E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2148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from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4E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evidence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60520" y="1481328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61688" y="1645920"/>
            <a:ext cx="566928" cy="566928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6168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20640" y="157276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frameworks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from public online data and reports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2633472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61688" y="2798064"/>
            <a:ext cx="566928" cy="566928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61688" y="2798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120640" y="27249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activity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Climate–nature international and UK policy activities and </a:t>
            </a:r>
            <a:r>
              <a:rPr lang="en-US" sz="1050" dirty="0" err="1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</a:t>
            </a: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on-line public sources (</a:t>
            </a:r>
            <a:r>
              <a:rPr lang="en-US" sz="1050" dirty="0" err="1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</a:t>
            </a: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gov.uk</a:t>
            </a: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60520" y="3785616"/>
            <a:ext cx="4663440" cy="896112"/>
          </a:xfrm>
          <a:prstGeom prst="roundRect">
            <a:avLst>
              <a:gd name="adj" fmla="val 8163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61688" y="3950208"/>
            <a:ext cx="566928" cy="566928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6168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120640" y="387705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research fields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via public bibliography and reports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generative AI was used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8458200" cy="457200"/>
          </a:xfrm>
          <a:prstGeom prst="roundRect">
            <a:avLst>
              <a:gd name="adj" fmla="val 16000"/>
            </a:avLst>
          </a:prstGeom>
          <a:solidFill>
            <a:srgbClr val="EE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 </a:t>
            </a:r>
            <a:r>
              <a:rPr lang="en-US" sz="11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not a project expectation — it was adopted where it added value.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94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348740" y="2414016"/>
            <a:ext cx="640080" cy="640080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48740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292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 &amp; organise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and structuring information on indicators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90088" y="26974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291840" y="2194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74820" y="2414016"/>
            <a:ext cx="640080" cy="640080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74820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2900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context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47472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sense of the policy landscape and its links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16168" y="26974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217920" y="2194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00900" y="2414016"/>
            <a:ext cx="640080" cy="640080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200900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35508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relevance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0080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how research outputs and data products can inform policy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4041648"/>
            <a:ext cx="845820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" y="4041648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100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ninsured AI used outside MO systems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AI guidance followed  ·  only publicly available information provided to the AI</a:t>
            </a:r>
            <a:endParaRPr lang="en-US" sz="11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58695" y="4745736"/>
            <a:ext cx="5818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of the project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146304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E4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5216" y="1682496"/>
            <a:ext cx="548640" cy="548640"/>
          </a:xfrm>
          <a:prstGeom prst="ellipse">
            <a:avLst/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5216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sheets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Indicators, and UK &amp; international policy and organisations — collated to defined protocols.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280160" y="254203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007A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80160" y="25420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AI-collated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46304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E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82896" y="1682496"/>
            <a:ext cx="548640" cy="548640"/>
          </a:xfrm>
          <a:prstGeom prst="ellipse">
            <a:avLst/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82896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77840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 tools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7784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and governance html dashboards to understand the policy landscape and use of existing indicators.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254203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50B9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77840" y="25420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co-created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3072384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B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5216" y="3291840"/>
            <a:ext cx="548640" cy="548640"/>
          </a:xfrm>
          <a:prstGeom prst="ellipse">
            <a:avLst/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5216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80160" y="3255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mapping assessments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80160" y="3584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policy applications for actual and potential MO research and data products.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280160" y="4151376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47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280160" y="4151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AI-delivered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3072384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EE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82896" y="3291840"/>
            <a:ext cx="548640" cy="548640"/>
          </a:xfrm>
          <a:prstGeom prst="ellipse">
            <a:avLst/>
          </a:prstGeom>
          <a:solidFill>
            <a:srgbClr val="6B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82896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577840" y="3255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577840" y="3584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data-sheet structure &amp; updating, tool creation, methods, scoring and output formats.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577840" y="4151376"/>
            <a:ext cx="1782330" cy="25603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77840" y="4151376"/>
            <a:ext cx="1782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Human-defined, AI generated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26C84A9E-3850-D31C-8E80-4019EB9EE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592" y="166653"/>
            <a:ext cx="4950080" cy="4551563"/>
          </a:xfrm>
          <a:prstGeom prst="rect">
            <a:avLst/>
          </a:prstGeom>
        </p:spPr>
      </p:pic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7" y="106325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03081" y="450061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2 · POLICY INDICATORS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1377" y="729788"/>
            <a:ext cx="39874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policy indicators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1377" y="1222069"/>
            <a:ext cx="3526223" cy="290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policy indicators and use.</a:t>
            </a: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methodology scores each indicator for climate relevance.</a:t>
            </a: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endParaRPr lang="en-US" sz="1200" dirty="0">
              <a:solidFill>
                <a:srgbClr val="2A2A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endParaRPr lang="en-US" sz="1200" dirty="0">
              <a:solidFill>
                <a:srgbClr val="2A2A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SzPct val="100000"/>
            </a:pP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main indicator frameworks — EIF, CCC Adaptation, JNCC UK Biodiversity.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discriminating between </a:t>
            </a:r>
            <a:r>
              <a:rPr lang="en-US" sz="120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</a:t>
            </a: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targets, goals and data products.</a:t>
            </a:r>
            <a:endParaRPr lang="en-US" sz="1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CD857F1-3728-7CFC-B415-DCC428592DEA}"/>
              </a:ext>
            </a:extLst>
          </p:cNvPr>
          <p:cNvGrpSpPr/>
          <p:nvPr/>
        </p:nvGrpSpPr>
        <p:grpSpPr>
          <a:xfrm>
            <a:off x="384048" y="2125026"/>
            <a:ext cx="3383280" cy="603504"/>
            <a:chOff x="4800600" y="4089654"/>
            <a:chExt cx="3383280" cy="603504"/>
          </a:xfrm>
        </p:grpSpPr>
        <p:sp>
          <p:nvSpPr>
            <p:cNvPr id="9" name="Text 6"/>
            <p:cNvSpPr/>
            <p:nvPr/>
          </p:nvSpPr>
          <p:spPr>
            <a:xfrm>
              <a:off x="4800600" y="4089654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A2A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Climate relevance score</a:t>
              </a:r>
              <a:endParaRPr lang="en-US" sz="10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800600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007AA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4800600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High</a:t>
              </a:r>
              <a:endParaRPr lang="en-US" sz="8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5641848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50B9A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5641848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 Med</a:t>
              </a:r>
              <a:endParaRPr lang="en-US" sz="85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483096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E4745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483096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Low</a:t>
              </a:r>
              <a:endParaRPr lang="en-US" sz="8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324344" y="4382262"/>
              <a:ext cx="749808" cy="310896"/>
            </a:xfrm>
            <a:prstGeom prst="roundRect">
              <a:avLst>
                <a:gd name="adj" fmla="val 17647"/>
              </a:avLst>
            </a:prstGeom>
            <a:solidFill>
              <a:srgbClr val="6B6B7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7324344" y="4382262"/>
              <a:ext cx="74980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 None</a:t>
              </a:r>
              <a:endParaRPr lang="en-US" sz="85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01DF51-AF90-7F25-EC6E-8914640A2FFA}"/>
              </a:ext>
            </a:extLst>
          </p:cNvPr>
          <p:cNvGrpSpPr/>
          <p:nvPr/>
        </p:nvGrpSpPr>
        <p:grpSpPr>
          <a:xfrm>
            <a:off x="295421" y="4137484"/>
            <a:ext cx="2987822" cy="562356"/>
            <a:chOff x="349738" y="3680460"/>
            <a:chExt cx="2987822" cy="562356"/>
          </a:xfrm>
        </p:grpSpPr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3409D7C3-5CC9-588E-DBED-75243A2805C5}"/>
                </a:ext>
              </a:extLst>
            </p:cNvPr>
            <p:cNvSpPr/>
            <p:nvPr/>
          </p:nvSpPr>
          <p:spPr>
            <a:xfrm>
              <a:off x="365760" y="3694176"/>
              <a:ext cx="2971800" cy="548640"/>
            </a:xfrm>
            <a:prstGeom prst="roundRect">
              <a:avLst>
                <a:gd name="adj" fmla="val 16667"/>
              </a:avLst>
            </a:prstGeom>
            <a:solidFill>
              <a:srgbClr val="007AA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8">
              <a:hlinkClick r:id="rId5" tooltip="Open indicator_finder_v4.html"/>
              <a:extLst>
                <a:ext uri="{FF2B5EF4-FFF2-40B4-BE49-F238E27FC236}">
                  <a16:creationId xmlns:a16="http://schemas.microsoft.com/office/drawing/2014/main" id="{FC4D58FA-FCF3-9EF3-0219-AAE348E0EFCA}"/>
                </a:ext>
              </a:extLst>
            </p:cNvPr>
            <p:cNvSpPr/>
            <p:nvPr/>
          </p:nvSpPr>
          <p:spPr>
            <a:xfrm>
              <a:off x="349738" y="3680460"/>
              <a:ext cx="2971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u="sng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5" tooltip="Open indicator_finder_v4.html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▶   Open live dashboard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F3B42469-D2AE-13E2-5A4C-E57DE568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40" b="3278"/>
          <a:stretch>
            <a:fillRect/>
          </a:stretch>
        </p:blipFill>
        <p:spPr>
          <a:xfrm>
            <a:off x="3451783" y="234543"/>
            <a:ext cx="5632314" cy="4446387"/>
          </a:xfrm>
          <a:prstGeom prst="rect">
            <a:avLst/>
          </a:prstGeom>
        </p:spPr>
      </p:pic>
      <p:pic>
        <p:nvPicPr>
          <p:cNvPr id="2" name="Image 0" descr="/sessions/beautiful-optimistic-knuth/mnt/outputs/assets/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8745"/>
            <a:ext cx="1371600" cy="4315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4E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2608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Climate and Nature indicators and policy opportunities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4745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10896" y="6766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3 · POLICY CONTEXT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" y="88696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policy context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32899" y="1541938"/>
            <a:ext cx="3104661" cy="271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&amp; biodiversity policy involves many international and UK initiatives — often tightly interlinked.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30×30 international CBD target, adopted into UK legislation and policy.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exposes and provides structure for understanding the complexity of the policy landscape.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485</Words>
  <Application>Microsoft Macintosh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Mosedale, Jonathan</cp:lastModifiedBy>
  <cp:revision>8</cp:revision>
  <dcterms:created xsi:type="dcterms:W3CDTF">2026-07-16T10:43:35Z</dcterms:created>
  <dcterms:modified xsi:type="dcterms:W3CDTF">2026-09-08T10:58:17Z</dcterms:modified>
</cp:coreProperties>
</file>