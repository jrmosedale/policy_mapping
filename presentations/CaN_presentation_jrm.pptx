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8" r:id="rId12"/>
    <p:sldId id="269" r:id="rId13"/>
    <p:sldId id="270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20D74B-AECD-EA45-B7CB-BA532384B683}" v="10" dt="2026-07-21T10:17:31.7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6301"/>
  </p:normalViewPr>
  <p:slideViewPr>
    <p:cSldViewPr snapToGrid="0" snapToObjects="1">
      <p:cViewPr varScale="1">
        <p:scale>
          <a:sx n="163" d="100"/>
          <a:sy n="163" d="100"/>
        </p:scale>
        <p:origin x="8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sedale, Jonathan" userId="fe0bd8f5-d132-405b-b23e-6335ff076208" providerId="ADAL" clId="{4EBFE44B-FD92-5AE6-B922-21D565D7FD88}"/>
    <pc:docChg chg="undo custSel modSld">
      <pc:chgData name="Mosedale, Jonathan" userId="fe0bd8f5-d132-405b-b23e-6335ff076208" providerId="ADAL" clId="{4EBFE44B-FD92-5AE6-B922-21D565D7FD88}" dt="2026-07-21T10:18:46.266" v="335" actId="20577"/>
      <pc:docMkLst>
        <pc:docMk/>
      </pc:docMkLst>
      <pc:sldChg chg="addSp delSp modSp mod">
        <pc:chgData name="Mosedale, Jonathan" userId="fe0bd8f5-d132-405b-b23e-6335ff076208" providerId="ADAL" clId="{4EBFE44B-FD92-5AE6-B922-21D565D7FD88}" dt="2026-07-21T09:05:07.046" v="103" actId="14100"/>
        <pc:sldMkLst>
          <pc:docMk/>
          <pc:sldMk cId="0" sldId="258"/>
        </pc:sldMkLst>
        <pc:spChg chg="add mod">
          <ac:chgData name="Mosedale, Jonathan" userId="fe0bd8f5-d132-405b-b23e-6335ff076208" providerId="ADAL" clId="{4EBFE44B-FD92-5AE6-B922-21D565D7FD88}" dt="2026-07-21T08:39:49.521" v="0"/>
          <ac:spMkLst>
            <pc:docMk/>
            <pc:sldMk cId="0" sldId="258"/>
            <ac:spMk id="3" creationId="{659AD3CA-3B13-28A7-D514-CE0D8CBDC6B8}"/>
          </ac:spMkLst>
        </pc:spChg>
        <pc:spChg chg="del">
          <ac:chgData name="Mosedale, Jonathan" userId="fe0bd8f5-d132-405b-b23e-6335ff076208" providerId="ADAL" clId="{4EBFE44B-FD92-5AE6-B922-21D565D7FD88}" dt="2026-07-21T09:04:40.263" v="98" actId="478"/>
          <ac:spMkLst>
            <pc:docMk/>
            <pc:sldMk cId="0" sldId="258"/>
            <ac:spMk id="9" creationId="{00000000-0000-0000-0000-000000000000}"/>
          </ac:spMkLst>
        </pc:spChg>
        <pc:spChg chg="add mod">
          <ac:chgData name="Mosedale, Jonathan" userId="fe0bd8f5-d132-405b-b23e-6335ff076208" providerId="ADAL" clId="{4EBFE44B-FD92-5AE6-B922-21D565D7FD88}" dt="2026-07-21T08:40:02.420" v="2" actId="1076"/>
          <ac:spMkLst>
            <pc:docMk/>
            <pc:sldMk cId="0" sldId="258"/>
            <ac:spMk id="25" creationId="{38BBE811-47E1-5C94-3C06-9900CE886DFA}"/>
          </ac:spMkLst>
        </pc:spChg>
        <pc:spChg chg="add mod">
          <ac:chgData name="Mosedale, Jonathan" userId="fe0bd8f5-d132-405b-b23e-6335ff076208" providerId="ADAL" clId="{4EBFE44B-FD92-5AE6-B922-21D565D7FD88}" dt="2026-07-21T09:05:07.046" v="103" actId="14100"/>
          <ac:spMkLst>
            <pc:docMk/>
            <pc:sldMk cId="0" sldId="258"/>
            <ac:spMk id="26" creationId="{F0208C89-4060-9A42-F31B-2EE8CFC6F1D3}"/>
          </ac:spMkLst>
        </pc:spChg>
      </pc:sldChg>
      <pc:sldChg chg="addSp delSp modSp mod">
        <pc:chgData name="Mosedale, Jonathan" userId="fe0bd8f5-d132-405b-b23e-6335ff076208" providerId="ADAL" clId="{4EBFE44B-FD92-5AE6-B922-21D565D7FD88}" dt="2026-07-21T09:05:00.701" v="102" actId="167"/>
        <pc:sldMkLst>
          <pc:docMk/>
          <pc:sldMk cId="0" sldId="259"/>
        </pc:sldMkLst>
        <pc:spChg chg="del">
          <ac:chgData name="Mosedale, Jonathan" userId="fe0bd8f5-d132-405b-b23e-6335ff076208" providerId="ADAL" clId="{4EBFE44B-FD92-5AE6-B922-21D565D7FD88}" dt="2026-07-21T09:04:45.088" v="99" actId="478"/>
          <ac:spMkLst>
            <pc:docMk/>
            <pc:sldMk cId="0" sldId="259"/>
            <ac:spMk id="9" creationId="{00000000-0000-0000-0000-000000000000}"/>
          </ac:spMkLst>
        </pc:spChg>
        <pc:spChg chg="add mod">
          <ac:chgData name="Mosedale, Jonathan" userId="fe0bd8f5-d132-405b-b23e-6335ff076208" providerId="ADAL" clId="{4EBFE44B-FD92-5AE6-B922-21D565D7FD88}" dt="2026-07-21T09:05:00.701" v="102" actId="167"/>
          <ac:spMkLst>
            <pc:docMk/>
            <pc:sldMk cId="0" sldId="259"/>
            <ac:spMk id="25" creationId="{177C3527-D382-8172-2696-F5EF67C68A9D}"/>
          </ac:spMkLst>
        </pc:spChg>
      </pc:sldChg>
      <pc:sldChg chg="modSp mod">
        <pc:chgData name="Mosedale, Jonathan" userId="fe0bd8f5-d132-405b-b23e-6335ff076208" providerId="ADAL" clId="{4EBFE44B-FD92-5AE6-B922-21D565D7FD88}" dt="2026-07-21T09:13:28.159" v="108" actId="20577"/>
        <pc:sldMkLst>
          <pc:docMk/>
          <pc:sldMk cId="0" sldId="260"/>
        </pc:sldMkLst>
        <pc:spChg chg="mod">
          <ac:chgData name="Mosedale, Jonathan" userId="fe0bd8f5-d132-405b-b23e-6335ff076208" providerId="ADAL" clId="{4EBFE44B-FD92-5AE6-B922-21D565D7FD88}" dt="2026-07-21T09:13:28.159" v="108" actId="20577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Mosedale, Jonathan" userId="fe0bd8f5-d132-405b-b23e-6335ff076208" providerId="ADAL" clId="{4EBFE44B-FD92-5AE6-B922-21D565D7FD88}" dt="2026-07-21T09:17:34.864" v="121" actId="20577"/>
        <pc:sldMkLst>
          <pc:docMk/>
          <pc:sldMk cId="0" sldId="263"/>
        </pc:sldMkLst>
        <pc:spChg chg="mod">
          <ac:chgData name="Mosedale, Jonathan" userId="fe0bd8f5-d132-405b-b23e-6335ff076208" providerId="ADAL" clId="{4EBFE44B-FD92-5AE6-B922-21D565D7FD88}" dt="2026-07-21T09:17:34.864" v="121" actId="20577"/>
          <ac:spMkLst>
            <pc:docMk/>
            <pc:sldMk cId="0" sldId="263"/>
            <ac:spMk id="8" creationId="{00000000-0000-0000-0000-000000000000}"/>
          </ac:spMkLst>
        </pc:spChg>
      </pc:sldChg>
      <pc:sldChg chg="modSp mod">
        <pc:chgData name="Mosedale, Jonathan" userId="fe0bd8f5-d132-405b-b23e-6335ff076208" providerId="ADAL" clId="{4EBFE44B-FD92-5AE6-B922-21D565D7FD88}" dt="2026-07-21T09:18:34.787" v="148" actId="20577"/>
        <pc:sldMkLst>
          <pc:docMk/>
          <pc:sldMk cId="0" sldId="269"/>
        </pc:sldMkLst>
        <pc:spChg chg="mod">
          <ac:chgData name="Mosedale, Jonathan" userId="fe0bd8f5-d132-405b-b23e-6335ff076208" providerId="ADAL" clId="{4EBFE44B-FD92-5AE6-B922-21D565D7FD88}" dt="2026-07-21T09:18:34.787" v="148" actId="20577"/>
          <ac:spMkLst>
            <pc:docMk/>
            <pc:sldMk cId="0" sldId="269"/>
            <ac:spMk id="6" creationId="{00000000-0000-0000-0000-000000000000}"/>
          </ac:spMkLst>
        </pc:spChg>
      </pc:sldChg>
      <pc:sldChg chg="modSp mod">
        <pc:chgData name="Mosedale, Jonathan" userId="fe0bd8f5-d132-405b-b23e-6335ff076208" providerId="ADAL" clId="{4EBFE44B-FD92-5AE6-B922-21D565D7FD88}" dt="2026-07-21T10:18:46.266" v="335" actId="20577"/>
        <pc:sldMkLst>
          <pc:docMk/>
          <pc:sldMk cId="0" sldId="271"/>
        </pc:sldMkLst>
        <pc:spChg chg="mod">
          <ac:chgData name="Mosedale, Jonathan" userId="fe0bd8f5-d132-405b-b23e-6335ff076208" providerId="ADAL" clId="{4EBFE44B-FD92-5AE6-B922-21D565D7FD88}" dt="2026-07-21T08:41:46.452" v="5" actId="107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Mosedale, Jonathan" userId="fe0bd8f5-d132-405b-b23e-6335ff076208" providerId="ADAL" clId="{4EBFE44B-FD92-5AE6-B922-21D565D7FD88}" dt="2026-07-21T10:16:19.543" v="151" actId="20577"/>
          <ac:spMkLst>
            <pc:docMk/>
            <pc:sldMk cId="0" sldId="271"/>
            <ac:spMk id="17" creationId="{00000000-0000-0000-0000-000000000000}"/>
          </ac:spMkLst>
        </pc:spChg>
        <pc:spChg chg="mod">
          <ac:chgData name="Mosedale, Jonathan" userId="fe0bd8f5-d132-405b-b23e-6335ff076208" providerId="ADAL" clId="{4EBFE44B-FD92-5AE6-B922-21D565D7FD88}" dt="2026-07-21T10:16:09.059" v="150" actId="20577"/>
          <ac:spMkLst>
            <pc:docMk/>
            <pc:sldMk cId="0" sldId="271"/>
            <ac:spMk id="20" creationId="{19C0B61C-CC54-2954-ABCF-1C4218C66043}"/>
          </ac:spMkLst>
        </pc:spChg>
        <pc:spChg chg="mod">
          <ac:chgData name="Mosedale, Jonathan" userId="fe0bd8f5-d132-405b-b23e-6335ff076208" providerId="ADAL" clId="{4EBFE44B-FD92-5AE6-B922-21D565D7FD88}" dt="2026-07-21T08:41:59.247" v="6" actId="1076"/>
          <ac:spMkLst>
            <pc:docMk/>
            <pc:sldMk cId="0" sldId="271"/>
            <ac:spMk id="21" creationId="{8CC3B1F1-2794-B0DB-E71D-1E06EC9DCD8B}"/>
          </ac:spMkLst>
        </pc:spChg>
        <pc:spChg chg="mod">
          <ac:chgData name="Mosedale, Jonathan" userId="fe0bd8f5-d132-405b-b23e-6335ff076208" providerId="ADAL" clId="{4EBFE44B-FD92-5AE6-B922-21D565D7FD88}" dt="2026-07-21T08:41:41.848" v="4" actId="1076"/>
          <ac:spMkLst>
            <pc:docMk/>
            <pc:sldMk cId="0" sldId="271"/>
            <ac:spMk id="22" creationId="{5D31C20E-D7FF-E6C0-80C0-59F0D97AA9BE}"/>
          </ac:spMkLst>
        </pc:spChg>
        <pc:spChg chg="mod">
          <ac:chgData name="Mosedale, Jonathan" userId="fe0bd8f5-d132-405b-b23e-6335ff076208" providerId="ADAL" clId="{4EBFE44B-FD92-5AE6-B922-21D565D7FD88}" dt="2026-07-21T10:18:37.220" v="334" actId="1076"/>
          <ac:spMkLst>
            <pc:docMk/>
            <pc:sldMk cId="0" sldId="271"/>
            <ac:spMk id="24" creationId="{4AC8945C-1339-0286-1B6B-B0C28125CDFB}"/>
          </ac:spMkLst>
        </pc:spChg>
        <pc:spChg chg="mod">
          <ac:chgData name="Mosedale, Jonathan" userId="fe0bd8f5-d132-405b-b23e-6335ff076208" providerId="ADAL" clId="{4EBFE44B-FD92-5AE6-B922-21D565D7FD88}" dt="2026-07-21T10:18:46.266" v="335" actId="20577"/>
          <ac:spMkLst>
            <pc:docMk/>
            <pc:sldMk cId="0" sldId="271"/>
            <ac:spMk id="27" creationId="{26F7E527-626E-B0D7-9F3D-2E133536EC8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845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file:///Users/jonathanmosedale/Library/CloudStorage/OneDrive-UniversityofExeter/MetOffice_cowork_indicators/html_dashboards/indicator_finder_v4.html" TargetMode="Externa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optimistic-knuth/mnt/outputs/asset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502920"/>
            <a:ext cx="5943600" cy="3218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128016"/>
            <a:ext cx="5120640" cy="5015484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/sessions/beautiful-optimistic-knuth/mnt/outputs/assets/mo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"/>
            <a:ext cx="1554480" cy="4892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7338" y="140360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E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OFFICE SCIENCE  ·  CLIMATE–NATURE POLICY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247338" y="1787652"/>
            <a:ext cx="4873302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493776" y="4160520"/>
            <a:ext cx="640080" cy="0"/>
          </a:xfrm>
          <a:prstGeom prst="line">
            <a:avLst/>
          </a:prstGeom>
          <a:noFill/>
          <a:ln w="38100">
            <a:solidFill>
              <a:srgbClr val="C4E9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57200" y="43159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C7C7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Jonathan Mosedale; Deborah Hemming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1168"/>
            <a:ext cx="1371600" cy="431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10896" y="6766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" y="893231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and nature — why link them?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143000" y="1839322"/>
            <a:ext cx="1920240" cy="1920240"/>
          </a:xfrm>
          <a:prstGeom prst="ellipse">
            <a:avLst/>
          </a:prstGeom>
          <a:solidFill>
            <a:srgbClr val="007AA9">
              <a:alpha val="65000"/>
            </a:srgbClr>
          </a:solidFill>
          <a:ln w="19050">
            <a:solidFill>
              <a:srgbClr val="007A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54685" y="1833373"/>
            <a:ext cx="1920240" cy="1920240"/>
          </a:xfrm>
          <a:prstGeom prst="ellipse">
            <a:avLst/>
          </a:prstGeom>
          <a:solidFill>
            <a:srgbClr val="50B9A4">
              <a:alpha val="65000"/>
            </a:srgbClr>
          </a:solidFill>
          <a:ln w="19050">
            <a:solidFill>
              <a:srgbClr val="50B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74420" y="2363724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200400" y="23774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Pressures on Nature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171700" y="23088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754880" y="15087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crises, one response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754880" y="1874520"/>
            <a:ext cx="4069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and nature policy increasingly overlap — the two crises share drivers, impacts and solutions.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instruments are explicitly joined-up, e.g. the CCRA, the Environment Act and the Global Biodiversity Framework.</a:t>
            </a:r>
            <a:endParaRPr lang="en-US" sz="115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Office climate science increasingly needs to speak to both agendas at once.</a:t>
            </a:r>
            <a:endParaRPr lang="en-US" sz="11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41D7CDE-CF3E-2DBF-049E-AF98AF77CBE7}"/>
              </a:ext>
            </a:extLst>
          </p:cNvPr>
          <p:cNvGrpSpPr/>
          <p:nvPr/>
        </p:nvGrpSpPr>
        <p:grpSpPr>
          <a:xfrm>
            <a:off x="4732333" y="4155948"/>
            <a:ext cx="1783080" cy="384048"/>
            <a:chOff x="822960" y="4160520"/>
            <a:chExt cx="1783080" cy="384048"/>
          </a:xfrm>
        </p:grpSpPr>
        <p:sp>
          <p:nvSpPr>
            <p:cNvPr id="15" name="Shape 12"/>
            <p:cNvSpPr/>
            <p:nvPr/>
          </p:nvSpPr>
          <p:spPr>
            <a:xfrm>
              <a:off x="822960" y="4160520"/>
              <a:ext cx="1783080" cy="384048"/>
            </a:xfrm>
            <a:prstGeom prst="roundRect">
              <a:avLst>
                <a:gd name="adj" fmla="val 23810"/>
              </a:avLst>
            </a:prstGeom>
            <a:solidFill>
              <a:srgbClr val="EEEEF0"/>
            </a:solidFill>
            <a:ln w="12700">
              <a:solidFill>
                <a:srgbClr val="D3D3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/>
            <p:cNvSpPr/>
            <p:nvPr/>
          </p:nvSpPr>
          <p:spPr>
            <a:xfrm>
              <a:off x="822960" y="4160520"/>
              <a:ext cx="1783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2A2A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Climate &amp; Nature Bill</a:t>
              </a:r>
              <a:endParaRPr lang="en-US" sz="950" dirty="0"/>
            </a:p>
          </p:txBody>
        </p:sp>
      </p:grpSp>
      <p:sp>
        <p:nvSpPr>
          <p:cNvPr id="17" name="Shape 14"/>
          <p:cNvSpPr/>
          <p:nvPr/>
        </p:nvSpPr>
        <p:spPr>
          <a:xfrm>
            <a:off x="2788920" y="4160520"/>
            <a:ext cx="1783080" cy="384048"/>
          </a:xfrm>
          <a:prstGeom prst="roundRect">
            <a:avLst>
              <a:gd name="adj" fmla="val 23810"/>
            </a:avLst>
          </a:prstGeom>
          <a:solidFill>
            <a:srgbClr val="EEEEF0"/>
          </a:solidFill>
          <a:ln w="12700">
            <a:solidFill>
              <a:srgbClr val="D3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788920" y="41605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Change Act</a:t>
            </a:r>
            <a:endParaRPr lang="en-US" sz="95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9279A1D-85EF-80D1-208C-2A8286D7D20F}"/>
              </a:ext>
            </a:extLst>
          </p:cNvPr>
          <p:cNvGrpSpPr/>
          <p:nvPr/>
        </p:nvGrpSpPr>
        <p:grpSpPr>
          <a:xfrm>
            <a:off x="709599" y="4165092"/>
            <a:ext cx="1826921" cy="384048"/>
            <a:chOff x="4754880" y="4160520"/>
            <a:chExt cx="1826921" cy="384048"/>
          </a:xfrm>
        </p:grpSpPr>
        <p:sp>
          <p:nvSpPr>
            <p:cNvPr id="19" name="Shape 16"/>
            <p:cNvSpPr/>
            <p:nvPr/>
          </p:nvSpPr>
          <p:spPr>
            <a:xfrm>
              <a:off x="4798721" y="4160520"/>
              <a:ext cx="1783080" cy="384048"/>
            </a:xfrm>
            <a:prstGeom prst="roundRect">
              <a:avLst>
                <a:gd name="adj" fmla="val 23810"/>
              </a:avLst>
            </a:prstGeom>
            <a:solidFill>
              <a:srgbClr val="EEEEF0"/>
            </a:solidFill>
            <a:ln w="12700">
              <a:solidFill>
                <a:srgbClr val="D3D3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7"/>
            <p:cNvSpPr/>
            <p:nvPr/>
          </p:nvSpPr>
          <p:spPr>
            <a:xfrm>
              <a:off x="4754880" y="4160520"/>
              <a:ext cx="1783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2A2A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Environment Act</a:t>
              </a:r>
              <a:endParaRPr lang="en-US" sz="950" dirty="0"/>
            </a:p>
          </p:txBody>
        </p:sp>
      </p:grpSp>
      <p:sp>
        <p:nvSpPr>
          <p:cNvPr id="21" name="Shape 18"/>
          <p:cNvSpPr/>
          <p:nvPr/>
        </p:nvSpPr>
        <p:spPr>
          <a:xfrm>
            <a:off x="6720840" y="4160520"/>
            <a:ext cx="1783080" cy="384048"/>
          </a:xfrm>
          <a:prstGeom prst="roundRect">
            <a:avLst>
              <a:gd name="adj" fmla="val 23810"/>
            </a:avLst>
          </a:prstGeom>
          <a:solidFill>
            <a:srgbClr val="EEEEF0"/>
          </a:solidFill>
          <a:ln w="12700">
            <a:solidFill>
              <a:srgbClr val="D3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720840" y="41605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UNFCCC / CBD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65760" y="3803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policy drivers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7">
            <a:extLst>
              <a:ext uri="{FF2B5EF4-FFF2-40B4-BE49-F238E27FC236}">
                <a16:creationId xmlns:a16="http://schemas.microsoft.com/office/drawing/2014/main" id="{F0208C89-4060-9A42-F31B-2EE8CFC6F1D3}"/>
              </a:ext>
            </a:extLst>
          </p:cNvPr>
          <p:cNvSpPr/>
          <p:nvPr/>
        </p:nvSpPr>
        <p:spPr>
          <a:xfrm flipV="1">
            <a:off x="2508738" y="1874519"/>
            <a:ext cx="1651782" cy="1133855"/>
          </a:xfrm>
          <a:prstGeom prst="line">
            <a:avLst/>
          </a:prstGeom>
          <a:noFill/>
          <a:ln w="15875">
            <a:solidFill>
              <a:srgbClr val="6B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1168"/>
            <a:ext cx="1371600" cy="4315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229600" y="47457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10896" y="6766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" y="88696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elements of the approach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48840" y="3063240"/>
            <a:ext cx="2011680" cy="0"/>
          </a:xfrm>
          <a:prstGeom prst="line">
            <a:avLst/>
          </a:prstGeom>
          <a:noFill/>
          <a:ln w="15875">
            <a:solidFill>
              <a:srgbClr val="6B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148840" y="3063240"/>
            <a:ext cx="2011680" cy="1170432"/>
          </a:xfrm>
          <a:prstGeom prst="line">
            <a:avLst/>
          </a:prstGeom>
          <a:noFill/>
          <a:ln w="15875">
            <a:solidFill>
              <a:srgbClr val="6B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234440" y="2148840"/>
            <a:ext cx="1828800" cy="1828800"/>
          </a:xfrm>
          <a:prstGeom prst="ellipse">
            <a:avLst/>
          </a:prstGeom>
          <a:solidFill>
            <a:srgbClr val="2A2A2A"/>
          </a:solidFill>
          <a:ln w="31750">
            <a:solidFill>
              <a:srgbClr val="C4E9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234440" y="21488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4E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60520" y="1481328"/>
            <a:ext cx="4663440" cy="896112"/>
          </a:xfrm>
          <a:prstGeom prst="roundRect">
            <a:avLst>
              <a:gd name="adj" fmla="val 8163"/>
            </a:avLst>
          </a:prstGeom>
          <a:solidFill>
            <a:srgbClr val="E4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61688" y="1645920"/>
            <a:ext cx="566928" cy="566928"/>
          </a:xfrm>
          <a:prstGeom prst="ellipse">
            <a:avLst/>
          </a:prstGeom>
          <a:solidFill>
            <a:srgbClr val="007A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61688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120640" y="157276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data/science informs policy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indicators used to monitor and assess policy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60520" y="2633472"/>
            <a:ext cx="4663440" cy="896112"/>
          </a:xfrm>
          <a:prstGeom prst="roundRect">
            <a:avLst>
              <a:gd name="adj" fmla="val 8163"/>
            </a:avLst>
          </a:prstGeom>
          <a:solidFill>
            <a:srgbClr val="E7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61688" y="2798064"/>
            <a:ext cx="566928" cy="566928"/>
          </a:xfrm>
          <a:prstGeom prst="ellipse">
            <a:avLst/>
          </a:prstGeom>
          <a:solidFill>
            <a:srgbClr val="50B9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361688" y="2798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120640" y="2724912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policy landscape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policy activity is happening and how are different activities related?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160520" y="3785616"/>
            <a:ext cx="4663440" cy="896112"/>
          </a:xfrm>
          <a:prstGeom prst="roundRect">
            <a:avLst>
              <a:gd name="adj" fmla="val 8163"/>
            </a:avLst>
          </a:prstGeom>
          <a:solidFill>
            <a:srgbClr val="FB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361688" y="3950208"/>
            <a:ext cx="566928" cy="566928"/>
          </a:xfrm>
          <a:prstGeom prst="ellipse">
            <a:avLst/>
          </a:prstGeom>
          <a:solidFill>
            <a:srgbClr val="E47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61688" y="3950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120640" y="387705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research fields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and potential Met Office research for assessment</a:t>
            </a:r>
            <a:endParaRPr lang="en-US" sz="1400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659AD3CA-3B13-28A7-D514-CE0D8CBDC6B8}"/>
              </a:ext>
            </a:extLst>
          </p:cNvPr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38BBE811-47E1-5C94-3C06-9900CE886DFA}"/>
              </a:ext>
            </a:extLst>
          </p:cNvPr>
          <p:cNvSpPr/>
          <p:nvPr/>
        </p:nvSpPr>
        <p:spPr>
          <a:xfrm>
            <a:off x="274320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7">
            <a:extLst>
              <a:ext uri="{FF2B5EF4-FFF2-40B4-BE49-F238E27FC236}">
                <a16:creationId xmlns:a16="http://schemas.microsoft.com/office/drawing/2014/main" id="{177C3527-D382-8172-2696-F5EF67C68A9D}"/>
              </a:ext>
            </a:extLst>
          </p:cNvPr>
          <p:cNvSpPr/>
          <p:nvPr/>
        </p:nvSpPr>
        <p:spPr>
          <a:xfrm flipV="1">
            <a:off x="2301240" y="1892808"/>
            <a:ext cx="1859280" cy="1322832"/>
          </a:xfrm>
          <a:prstGeom prst="line">
            <a:avLst/>
          </a:prstGeom>
          <a:noFill/>
          <a:ln w="15875">
            <a:solidFill>
              <a:srgbClr val="6B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1168"/>
            <a:ext cx="1371600" cy="431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229600" y="47457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10896" y="6766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· EVIDENCE SOURCES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" y="88696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evidence comes from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48840" y="3063240"/>
            <a:ext cx="2011680" cy="0"/>
          </a:xfrm>
          <a:prstGeom prst="line">
            <a:avLst/>
          </a:prstGeom>
          <a:noFill/>
          <a:ln w="15875">
            <a:solidFill>
              <a:srgbClr val="6B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148840" y="3063240"/>
            <a:ext cx="2011680" cy="1170432"/>
          </a:xfrm>
          <a:prstGeom prst="line">
            <a:avLst/>
          </a:prstGeom>
          <a:noFill/>
          <a:ln w="15875">
            <a:solidFill>
              <a:srgbClr val="6B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234440" y="2148840"/>
            <a:ext cx="1828800" cy="1828800"/>
          </a:xfrm>
          <a:prstGeom prst="ellipse">
            <a:avLst/>
          </a:prstGeom>
          <a:solidFill>
            <a:srgbClr val="2A2A2A"/>
          </a:solidFill>
          <a:ln w="31750">
            <a:solidFill>
              <a:srgbClr val="C4E9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234440" y="21488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from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4E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evidence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60520" y="1481328"/>
            <a:ext cx="4663440" cy="896112"/>
          </a:xfrm>
          <a:prstGeom prst="roundRect">
            <a:avLst>
              <a:gd name="adj" fmla="val 8163"/>
            </a:avLst>
          </a:prstGeom>
          <a:solidFill>
            <a:srgbClr val="E4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61688" y="1645920"/>
            <a:ext cx="566928" cy="566928"/>
          </a:xfrm>
          <a:prstGeom prst="ellipse">
            <a:avLst/>
          </a:prstGeom>
          <a:solidFill>
            <a:srgbClr val="007A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61688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120640" y="157276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frameworks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from public online data and reports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60520" y="2633472"/>
            <a:ext cx="4663440" cy="896112"/>
          </a:xfrm>
          <a:prstGeom prst="roundRect">
            <a:avLst>
              <a:gd name="adj" fmla="val 8163"/>
            </a:avLst>
          </a:prstGeom>
          <a:solidFill>
            <a:srgbClr val="E7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61688" y="2798064"/>
            <a:ext cx="566928" cy="566928"/>
          </a:xfrm>
          <a:prstGeom prst="ellipse">
            <a:avLst/>
          </a:prstGeom>
          <a:solidFill>
            <a:srgbClr val="50B9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361688" y="2798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120640" y="2724912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&amp; organisations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Climate–nature international and UK policy activities and </a:t>
            </a:r>
            <a:r>
              <a:rPr lang="en-US" sz="1050" dirty="0" err="1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organisations</a:t>
            </a: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on-line public sources (</a:t>
            </a:r>
            <a:r>
              <a:rPr lang="en-US" sz="1050" dirty="0" err="1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</a:t>
            </a: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gov.uk</a:t>
            </a: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160520" y="3785616"/>
            <a:ext cx="4663440" cy="896112"/>
          </a:xfrm>
          <a:prstGeom prst="roundRect">
            <a:avLst>
              <a:gd name="adj" fmla="val 8163"/>
            </a:avLst>
          </a:prstGeom>
          <a:solidFill>
            <a:srgbClr val="FB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361688" y="3950208"/>
            <a:ext cx="566928" cy="566928"/>
          </a:xfrm>
          <a:prstGeom prst="ellipse">
            <a:avLst/>
          </a:prstGeom>
          <a:solidFill>
            <a:srgbClr val="E47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61688" y="3950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120640" y="387705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research fields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via public bibliography and reports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1168"/>
            <a:ext cx="1371600" cy="431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10896" y="6766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" y="88696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generative AI was used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65760" y="1417320"/>
            <a:ext cx="8458200" cy="457200"/>
          </a:xfrm>
          <a:prstGeom prst="roundRect">
            <a:avLst>
              <a:gd name="adj" fmla="val 16000"/>
            </a:avLst>
          </a:prstGeom>
          <a:solidFill>
            <a:srgbClr val="EE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417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Disclaimer:  </a:t>
            </a:r>
            <a:r>
              <a:rPr lang="en-US" sz="11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was not a project expectation — it was adopted where it added value.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1945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4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348740" y="2414016"/>
            <a:ext cx="640080" cy="640080"/>
          </a:xfrm>
          <a:prstGeom prst="ellipse">
            <a:avLst/>
          </a:prstGeom>
          <a:solidFill>
            <a:srgbClr val="007A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348740" y="24140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02920" y="3127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Collate &amp; organise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8640" y="3401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Gathering and structuring information on indicators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990088" y="26974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3291840" y="21945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7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274820" y="2414016"/>
            <a:ext cx="640080" cy="640080"/>
          </a:xfrm>
          <a:prstGeom prst="ellipse">
            <a:avLst/>
          </a:prstGeom>
          <a:solidFill>
            <a:srgbClr val="50B9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274820" y="24140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429000" y="3127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context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474720" y="3401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sense of the policy landscape and its links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16168" y="26974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6217920" y="21945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B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200900" y="2414016"/>
            <a:ext cx="640080" cy="640080"/>
          </a:xfrm>
          <a:prstGeom prst="ellipse">
            <a:avLst/>
          </a:prstGeom>
          <a:solidFill>
            <a:srgbClr val="E47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200900" y="24140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355080" y="3127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relevance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400800" y="3401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how research outputs and data products can inform policy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5760" y="4041648"/>
            <a:ext cx="8458200" cy="502920"/>
          </a:xfrm>
          <a:prstGeom prst="roundRect">
            <a:avLst>
              <a:gd name="adj" fmla="val 14545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94360" y="4041648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D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1100" dirty="0">
                <a:solidFill>
                  <a:srgbClr val="92D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ninsured AI used outside MO systems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100" dirty="0">
                <a:solidFill>
                  <a:srgbClr val="92D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AI guidance followed  ·  only publicly available information provided to the AI</a:t>
            </a:r>
            <a:endParaRPr lang="en-US" sz="1100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1168"/>
            <a:ext cx="1371600" cy="431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258695" y="4745736"/>
            <a:ext cx="5818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10896" y="6766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 TOGETHER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" y="88696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of the project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65760" y="1463040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E4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85216" y="1682496"/>
            <a:ext cx="548640" cy="548640"/>
          </a:xfrm>
          <a:prstGeom prst="ellipse">
            <a:avLst/>
          </a:prstGeom>
          <a:solidFill>
            <a:srgbClr val="007A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5216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80160" y="1645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sheets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19751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Indicators, and UK &amp; international policy and organisations — collated to defined protocols.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280160" y="2542032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007A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280160" y="25420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AI-collated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1463040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E7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82896" y="1682496"/>
            <a:ext cx="548640" cy="548640"/>
          </a:xfrm>
          <a:prstGeom prst="ellipse">
            <a:avLst/>
          </a:prstGeom>
          <a:solidFill>
            <a:srgbClr val="50B9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82896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577840" y="1645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tools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577840" y="19751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and governance dashboards to understand the policy landscape and use of existing indicators.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577840" y="2542032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50B9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577840" y="25420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co-created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65760" y="3072384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FB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85216" y="3291840"/>
            <a:ext cx="548640" cy="548640"/>
          </a:xfrm>
          <a:prstGeom prst="ellipse">
            <a:avLst/>
          </a:prstGeom>
          <a:solidFill>
            <a:srgbClr val="E47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85216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280160" y="32552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mapping assessments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280160" y="3584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policy applications for actual and potential MO research and data products.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280160" y="4151376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E47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280160" y="41513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AI-delivered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663440" y="3072384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EE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882896" y="3291840"/>
            <a:ext cx="548640" cy="548640"/>
          </a:xfrm>
          <a:prstGeom prst="ellipse">
            <a:avLst/>
          </a:prstGeom>
          <a:solidFill>
            <a:srgbClr val="6B6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882896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577840" y="32552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5577840" y="3584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data-sheet structure &amp; updating, tool creation, methods, scoring and output formats.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577840" y="4151376"/>
            <a:ext cx="1782330" cy="25603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577840" y="4151376"/>
            <a:ext cx="17823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Human-defined, AI generated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371600" cy="431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229600" y="47457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10896" y="6766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1 · DATA SHEETS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14884" y="896542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sheets: policy &amp; indicators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92608" y="1639902"/>
            <a:ext cx="6649017" cy="435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data sheets: indicators, and UK &amp; international policy and organisations.</a:t>
            </a:r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collated from public online sources following defined protocols.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UK policy-governance workbook underpins the assessments.</a:t>
            </a:r>
            <a:endParaRPr lang="en-US" sz="12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A971F22-BB45-6245-131B-DED281914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89" y="2316128"/>
            <a:ext cx="7772400" cy="24296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26C84A9E-3850-D31C-8E80-4019EB9EE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592" y="166653"/>
            <a:ext cx="4950080" cy="4551563"/>
          </a:xfrm>
          <a:prstGeom prst="rect">
            <a:avLst/>
          </a:prstGeom>
        </p:spPr>
      </p:pic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37" y="106325"/>
            <a:ext cx="1371600" cy="431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229600" y="47457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03081" y="450061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2 · POLICY INDICATORS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1377" y="729788"/>
            <a:ext cx="39874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policy indicators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31377" y="1222069"/>
            <a:ext cx="3526223" cy="290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for policy indicators and use.</a:t>
            </a:r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methodology scores each indicator for climate relevance.</a:t>
            </a:r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endParaRPr lang="en-US" sz="1200" dirty="0">
              <a:solidFill>
                <a:srgbClr val="2A2A2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endParaRPr lang="en-US" sz="1200" dirty="0">
              <a:solidFill>
                <a:srgbClr val="2A2A2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buSzPct val="100000"/>
            </a:pP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the main indicator frameworks — EIF, CCC Adaptation, JNCC UK Biodiversity.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discriminating between </a:t>
            </a:r>
            <a:r>
              <a:rPr lang="en-US" sz="1200" u="sng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indicators</a:t>
            </a: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targets, goals and data products.</a:t>
            </a:r>
            <a:endParaRPr lang="en-US" sz="12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CD857F1-3728-7CFC-B415-DCC428592DEA}"/>
              </a:ext>
            </a:extLst>
          </p:cNvPr>
          <p:cNvGrpSpPr/>
          <p:nvPr/>
        </p:nvGrpSpPr>
        <p:grpSpPr>
          <a:xfrm>
            <a:off x="384048" y="2125026"/>
            <a:ext cx="3383280" cy="603504"/>
            <a:chOff x="4800600" y="4089654"/>
            <a:chExt cx="3383280" cy="603504"/>
          </a:xfrm>
        </p:grpSpPr>
        <p:sp>
          <p:nvSpPr>
            <p:cNvPr id="9" name="Text 6"/>
            <p:cNvSpPr/>
            <p:nvPr/>
          </p:nvSpPr>
          <p:spPr>
            <a:xfrm>
              <a:off x="4800600" y="4089654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A2A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Climate relevance score</a:t>
              </a:r>
              <a:endParaRPr lang="en-US" sz="10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4800600" y="4382262"/>
              <a:ext cx="749808" cy="310896"/>
            </a:xfrm>
            <a:prstGeom prst="roundRect">
              <a:avLst>
                <a:gd name="adj" fmla="val 17647"/>
              </a:avLst>
            </a:prstGeom>
            <a:solidFill>
              <a:srgbClr val="007AA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8"/>
            <p:cNvSpPr/>
            <p:nvPr/>
          </p:nvSpPr>
          <p:spPr>
            <a:xfrm>
              <a:off x="4800600" y="4382262"/>
              <a:ext cx="74980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 High</a:t>
              </a:r>
              <a:endParaRPr lang="en-US" sz="85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5641848" y="4382262"/>
              <a:ext cx="749808" cy="310896"/>
            </a:xfrm>
            <a:prstGeom prst="roundRect">
              <a:avLst>
                <a:gd name="adj" fmla="val 17647"/>
              </a:avLst>
            </a:prstGeom>
            <a:solidFill>
              <a:srgbClr val="50B9A4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0"/>
            <p:cNvSpPr/>
            <p:nvPr/>
          </p:nvSpPr>
          <p:spPr>
            <a:xfrm>
              <a:off x="5641848" y="4382262"/>
              <a:ext cx="74980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 Med</a:t>
              </a:r>
              <a:endParaRPr lang="en-US" sz="85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6483096" y="4382262"/>
              <a:ext cx="749808" cy="310896"/>
            </a:xfrm>
            <a:prstGeom prst="roundRect">
              <a:avLst>
                <a:gd name="adj" fmla="val 17647"/>
              </a:avLst>
            </a:prstGeom>
            <a:solidFill>
              <a:srgbClr val="E4745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2"/>
            <p:cNvSpPr/>
            <p:nvPr/>
          </p:nvSpPr>
          <p:spPr>
            <a:xfrm>
              <a:off x="6483096" y="4382262"/>
              <a:ext cx="74980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 Low</a:t>
              </a:r>
              <a:endParaRPr lang="en-US" sz="85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7324344" y="4382262"/>
              <a:ext cx="749808" cy="310896"/>
            </a:xfrm>
            <a:prstGeom prst="roundRect">
              <a:avLst>
                <a:gd name="adj" fmla="val 17647"/>
              </a:avLst>
            </a:prstGeom>
            <a:solidFill>
              <a:srgbClr val="6B6B7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4"/>
            <p:cNvSpPr/>
            <p:nvPr/>
          </p:nvSpPr>
          <p:spPr>
            <a:xfrm>
              <a:off x="7324344" y="4382262"/>
              <a:ext cx="74980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 None</a:t>
              </a:r>
              <a:endParaRPr lang="en-US" sz="85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D01DF51-AF90-7F25-EC6E-8914640A2FFA}"/>
              </a:ext>
            </a:extLst>
          </p:cNvPr>
          <p:cNvGrpSpPr/>
          <p:nvPr/>
        </p:nvGrpSpPr>
        <p:grpSpPr>
          <a:xfrm>
            <a:off x="295421" y="4137484"/>
            <a:ext cx="2987822" cy="562356"/>
            <a:chOff x="349738" y="3680460"/>
            <a:chExt cx="2987822" cy="562356"/>
          </a:xfrm>
        </p:grpSpPr>
        <p:sp>
          <p:nvSpPr>
            <p:cNvPr id="38" name="Shape 7">
              <a:extLst>
                <a:ext uri="{FF2B5EF4-FFF2-40B4-BE49-F238E27FC236}">
                  <a16:creationId xmlns:a16="http://schemas.microsoft.com/office/drawing/2014/main" id="{3409D7C3-5CC9-588E-DBED-75243A2805C5}"/>
                </a:ext>
              </a:extLst>
            </p:cNvPr>
            <p:cNvSpPr/>
            <p:nvPr/>
          </p:nvSpPr>
          <p:spPr>
            <a:xfrm>
              <a:off x="365760" y="3694176"/>
              <a:ext cx="2971800" cy="548640"/>
            </a:xfrm>
            <a:prstGeom prst="roundRect">
              <a:avLst>
                <a:gd name="adj" fmla="val 16667"/>
              </a:avLst>
            </a:prstGeom>
            <a:solidFill>
              <a:srgbClr val="007AA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8">
              <a:hlinkClick r:id="rId5" tooltip="Open indicator_finder_v4.html"/>
              <a:extLst>
                <a:ext uri="{FF2B5EF4-FFF2-40B4-BE49-F238E27FC236}">
                  <a16:creationId xmlns:a16="http://schemas.microsoft.com/office/drawing/2014/main" id="{FC4D58FA-FCF3-9EF3-0219-AAE348E0EFCA}"/>
                </a:ext>
              </a:extLst>
            </p:cNvPr>
            <p:cNvSpPr/>
            <p:nvPr/>
          </p:nvSpPr>
          <p:spPr>
            <a:xfrm>
              <a:off x="349738" y="3680460"/>
              <a:ext cx="29718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u="sng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  <a:hlinkClick r:id="rId5" tooltip="Open indicator_finder_v4.html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▶   Open live dashboard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F3B42469-D2AE-13E2-5A4C-E57DE568EE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40" b="3278"/>
          <a:stretch>
            <a:fillRect/>
          </a:stretch>
        </p:blipFill>
        <p:spPr>
          <a:xfrm>
            <a:off x="3451783" y="234543"/>
            <a:ext cx="5632314" cy="4446387"/>
          </a:xfrm>
          <a:prstGeom prst="rect">
            <a:avLst/>
          </a:prstGeom>
        </p:spPr>
      </p:pic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8745"/>
            <a:ext cx="1371600" cy="431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229600" y="47457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10896" y="6766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3 · POLICY CONTEXT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" y="88696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the policy context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32899" y="1541938"/>
            <a:ext cx="3104661" cy="2714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&amp; biodiversity policy involves many international and UK initiatives — often tightly interlinked.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the 30×30 international CBD target, adopted into UK legislation and policy.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exposes and provides structure for understanding the complexity of the policy landscape.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1168"/>
            <a:ext cx="1371600" cy="431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229600" y="47457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10896" y="6766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4 · SUMMARY MAPPING ASSESSMENTS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" y="88696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science to policy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65760" y="1591056"/>
            <a:ext cx="512064" cy="512064"/>
          </a:xfrm>
          <a:prstGeom prst="ellipse">
            <a:avLst/>
          </a:prstGeom>
          <a:solidFill>
            <a:srgbClr val="007A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1591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78992" y="1481328"/>
            <a:ext cx="4544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A2A"/>
                </a:solidFill>
                <a:latin typeface="Arial" pitchFamily="34" charset="0"/>
                <a:cs typeface="Arial" pitchFamily="34" charset="-120"/>
              </a:rPr>
              <a:t>Current links and opportunities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how science informs indicators &amp; policy activities.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65760" y="2377440"/>
            <a:ext cx="512064" cy="512064"/>
          </a:xfrm>
          <a:prstGeom prst="ellipse">
            <a:avLst/>
          </a:prstGeom>
          <a:solidFill>
            <a:srgbClr val="50B9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5760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78992" y="2267712"/>
            <a:ext cx="4544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Focused, not exhaustive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bibliographies to define research fields, surfacing gaps and opportunities rather than generalising all MO science.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65760" y="3163824"/>
            <a:ext cx="512064" cy="512064"/>
          </a:xfrm>
          <a:prstGeom prst="ellipse">
            <a:avLst/>
          </a:prstGeom>
          <a:solidFill>
            <a:srgbClr val="E47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5760" y="31638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78992" y="3054096"/>
            <a:ext cx="4544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information only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publicly available information is ever provided to the AI.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65760" y="3950208"/>
            <a:ext cx="512064" cy="512064"/>
          </a:xfrm>
          <a:prstGeom prst="ellipse">
            <a:avLst/>
          </a:prstGeom>
          <a:solidFill>
            <a:srgbClr val="6B6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3950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78992" y="3840480"/>
            <a:ext cx="4544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data sheets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Wider internet searches capture relevant policies not held in the compiled data sheets.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897880" y="1481328"/>
            <a:ext cx="2926080" cy="2148840"/>
          </a:xfrm>
          <a:prstGeom prst="roundRect">
            <a:avLst>
              <a:gd name="adj" fmla="val 4255"/>
            </a:avLst>
          </a:prstGeom>
          <a:solidFill>
            <a:srgbClr val="007A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126480" y="1737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PUBLIC-DOMAIN</a:t>
            </a:r>
            <a:endParaRPr lang="en-US" sz="1700" dirty="0"/>
          </a:p>
          <a:p>
            <a:pPr marL="0" indent="0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ONLY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126480" y="250545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D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 draw only on published Met Office reports and peer-reviewed research — plus targeted public web searches. No internal or unpublished material is shared with the AI.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35040" y="3675888"/>
            <a:ext cx="658368" cy="74980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007A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035040" y="3675888"/>
            <a:ext cx="658368" cy="146304"/>
          </a:xfrm>
          <a:prstGeom prst="rect">
            <a:avLst/>
          </a:prstGeom>
          <a:solidFill>
            <a:srgbClr val="007A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126480" y="3986784"/>
            <a:ext cx="475488" cy="0"/>
          </a:xfrm>
          <a:prstGeom prst="line">
            <a:avLst/>
          </a:prstGeom>
          <a:noFill/>
          <a:ln w="12700">
            <a:solidFill>
              <a:srgbClr val="C9C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126480" y="4133088"/>
            <a:ext cx="475488" cy="0"/>
          </a:xfrm>
          <a:prstGeom prst="line">
            <a:avLst/>
          </a:prstGeom>
          <a:noFill/>
          <a:ln w="12700">
            <a:solidFill>
              <a:srgbClr val="C9C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126480" y="4279392"/>
            <a:ext cx="475488" cy="0"/>
          </a:xfrm>
          <a:prstGeom prst="line">
            <a:avLst/>
          </a:prstGeom>
          <a:noFill/>
          <a:ln w="12700">
            <a:solidFill>
              <a:srgbClr val="C9C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931152" y="3675888"/>
            <a:ext cx="658368" cy="74980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50B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931152" y="3675888"/>
            <a:ext cx="658368" cy="146304"/>
          </a:xfrm>
          <a:prstGeom prst="rect">
            <a:avLst/>
          </a:prstGeom>
          <a:solidFill>
            <a:srgbClr val="50B9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022592" y="3986784"/>
            <a:ext cx="475488" cy="0"/>
          </a:xfrm>
          <a:prstGeom prst="line">
            <a:avLst/>
          </a:prstGeom>
          <a:noFill/>
          <a:ln w="12700">
            <a:solidFill>
              <a:srgbClr val="C9C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022592" y="4133088"/>
            <a:ext cx="475488" cy="0"/>
          </a:xfrm>
          <a:prstGeom prst="line">
            <a:avLst/>
          </a:prstGeom>
          <a:noFill/>
          <a:ln w="12700">
            <a:solidFill>
              <a:srgbClr val="C9C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7022592" y="4279392"/>
            <a:ext cx="475488" cy="0"/>
          </a:xfrm>
          <a:prstGeom prst="line">
            <a:avLst/>
          </a:prstGeom>
          <a:noFill/>
          <a:ln w="12700">
            <a:solidFill>
              <a:srgbClr val="C9C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827264" y="3675888"/>
            <a:ext cx="658368" cy="74980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E47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7827264" y="3675888"/>
            <a:ext cx="658368" cy="146304"/>
          </a:xfrm>
          <a:prstGeom prst="rect">
            <a:avLst/>
          </a:prstGeom>
          <a:solidFill>
            <a:srgbClr val="E47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918704" y="3986784"/>
            <a:ext cx="475488" cy="0"/>
          </a:xfrm>
          <a:prstGeom prst="line">
            <a:avLst/>
          </a:prstGeom>
          <a:noFill/>
          <a:ln w="12700">
            <a:solidFill>
              <a:srgbClr val="C9C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7918704" y="4133088"/>
            <a:ext cx="475488" cy="0"/>
          </a:xfrm>
          <a:prstGeom prst="line">
            <a:avLst/>
          </a:prstGeom>
          <a:noFill/>
          <a:ln w="12700">
            <a:solidFill>
              <a:srgbClr val="C9C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7918704" y="4279392"/>
            <a:ext cx="475488" cy="0"/>
          </a:xfrm>
          <a:prstGeom prst="line">
            <a:avLst/>
          </a:prstGeom>
          <a:noFill/>
          <a:ln w="12700">
            <a:solidFill>
              <a:srgbClr val="C9C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897880" y="444398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Office public reports &amp; publications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39" y="60649"/>
            <a:ext cx="1371600" cy="431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229600" y="47457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15468" y="454457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ASSESSMENT · MARINE HEATWAVES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" y="644652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temperature &amp; marine heatwaves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15469" y="1067721"/>
            <a:ext cx="4986294" cy="1104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policy opportunities for a new UK marine-heatwave (MHW) product.</a:t>
            </a:r>
            <a:endParaRPr lang="en-US" sz="1400" dirty="0"/>
          </a:p>
          <a:p>
            <a:pPr marL="152400" indent="-1524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Provided an extensive bibliography (Google Scholar) of international marine-heatwave research.</a:t>
            </a:r>
            <a:endParaRPr lang="en-US" sz="1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87D86FE-8CFC-C339-3475-10BECE059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236839"/>
            <a:ext cx="7772400" cy="245220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BFF54A0-82C4-7FDE-38B2-F331D49E0680}"/>
              </a:ext>
            </a:extLst>
          </p:cNvPr>
          <p:cNvSpPr txBox="1"/>
          <p:nvPr/>
        </p:nvSpPr>
        <p:spPr>
          <a:xfrm>
            <a:off x="6321668" y="1045875"/>
            <a:ext cx="2699239" cy="123110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Other assessments run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 Biosecurity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Land surface temperature product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Daily sunshine product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1168"/>
            <a:ext cx="1371600" cy="431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10896" y="6766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5 - PROTOCOLS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" y="88696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Maintaining and updating the tools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 were developed so the outputs can be kept current, not left as a one-off.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65760" y="20574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E4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603504" cy="603504"/>
          </a:xfrm>
          <a:prstGeom prst="ellipse">
            <a:avLst/>
          </a:prstGeom>
          <a:solidFill>
            <a:srgbClr val="007A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23317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0" y="308152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sheets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3429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and updating indicator, policy and organisation records to a defined structure.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19272" y="20574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E7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593592" y="2331720"/>
            <a:ext cx="603504" cy="603504"/>
          </a:xfrm>
          <a:prstGeom prst="ellipse">
            <a:avLst/>
          </a:prstGeom>
          <a:solidFill>
            <a:srgbClr val="50B9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593592" y="23317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593592" y="308152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593592" y="3429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method, scoring and output formats for each policy-relevance assessment.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72784" y="20574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B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547104" y="2331720"/>
            <a:ext cx="603504" cy="603504"/>
          </a:xfrm>
          <a:prstGeom prst="ellipse">
            <a:avLst/>
          </a:prstGeom>
          <a:solidFill>
            <a:srgbClr val="E47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47104" y="23317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547104" y="308152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tools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547104" y="3429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and refreshing the HTML indicator and governance dashboards.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1168"/>
            <a:ext cx="1371600" cy="431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10896" y="6766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PORTABILITY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" y="88696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Porting to the Met Office workspace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65760" y="160020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protocols and compiled data sheets are model-agnostic.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can be run by alternative AI models inside the Met Office environment — for example Microsoft Copilot.</a:t>
            </a:r>
            <a:endParaRPr lang="en-US" sz="125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sits in the structured data and protocols, not in any single AI system.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0" y="169164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0" y="16916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 + data sheets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4E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portable, model-independent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0" y="25786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572000" y="2999232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2225">
            <a:solidFill>
              <a:srgbClr val="007A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65776" y="3127248"/>
            <a:ext cx="292608" cy="292608"/>
          </a:xfrm>
          <a:prstGeom prst="ellipse">
            <a:avLst/>
          </a:prstGeom>
          <a:solidFill>
            <a:srgbClr val="007A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0" y="34564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2999232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2225">
            <a:solidFill>
              <a:srgbClr val="50B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528816" y="3127248"/>
            <a:ext cx="292608" cy="292608"/>
          </a:xfrm>
          <a:prstGeom prst="ellipse">
            <a:avLst/>
          </a:prstGeom>
          <a:solidFill>
            <a:srgbClr val="50B9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35040" y="34564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498080" y="2999232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2225">
            <a:solidFill>
              <a:srgbClr val="E47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991856" y="3127248"/>
            <a:ext cx="292608" cy="292608"/>
          </a:xfrm>
          <a:prstGeom prst="ellipse">
            <a:avLst/>
          </a:prstGeom>
          <a:solidFill>
            <a:srgbClr val="E47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498080" y="34564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LLM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optimistic-knuth/mnt/outputs/assets/m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56032"/>
            <a:ext cx="1371600" cy="431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229600" y="47457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10896" y="8412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E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LEARNT and NEXT STEPS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" y="1051560"/>
            <a:ext cx="27143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benefits: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92608" y="1787652"/>
            <a:ext cx="164592" cy="164592"/>
          </a:xfrm>
          <a:prstGeom prst="ellipse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5216" y="1573823"/>
            <a:ext cx="3822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Compiling online data is a big win  </a:t>
            </a:r>
            <a:endParaRPr lang="en-US" sz="1250" dirty="0"/>
          </a:p>
          <a:p>
            <a:r>
              <a:rPr lang="en-US" sz="1000" dirty="0">
                <a:solidFill>
                  <a:srgbClr val="C7C7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sheets ensure a minimum policy / indicator context is always considered for further queries.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96968" y="2743474"/>
            <a:ext cx="164592" cy="164592"/>
          </a:xfrm>
          <a:prstGeom prst="ellipse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92608" y="2747772"/>
            <a:ext cx="164592" cy="164592"/>
          </a:xfrm>
          <a:prstGeom prst="ellipse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5216" y="2507566"/>
            <a:ext cx="3822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surprises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7C7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assessments identified surprising policy opportunities.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92608" y="3659886"/>
            <a:ext cx="164592" cy="164592"/>
          </a:xfrm>
          <a:prstGeom prst="ellipse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85216" y="3622079"/>
            <a:ext cx="3822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 provide standard outputs &amp;  ease maintenance  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7C7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steps to update sheets and re-run assessments keep everything current.</a:t>
            </a:r>
            <a:endParaRPr lang="en-US" sz="125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19C0B61C-CC54-2954-ABCF-1C4218C66043}"/>
              </a:ext>
            </a:extLst>
          </p:cNvPr>
          <p:cNvSpPr/>
          <p:nvPr/>
        </p:nvSpPr>
        <p:spPr>
          <a:xfrm>
            <a:off x="5068159" y="1734430"/>
            <a:ext cx="3822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Deliverables: long-term value for Met Office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C7C7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Underlying data and protocols offer option of long-term use and maintenance.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C7C7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examples to permanent tools.</a:t>
            </a:r>
          </a:p>
          <a:p>
            <a:endParaRPr lang="en-US" sz="125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8CC3B1F1-2794-B0DB-E71D-1E06EC9DCD8B}"/>
              </a:ext>
            </a:extLst>
          </p:cNvPr>
          <p:cNvSpPr/>
          <p:nvPr/>
        </p:nvSpPr>
        <p:spPr>
          <a:xfrm>
            <a:off x="4696968" y="1759340"/>
            <a:ext cx="164592" cy="164592"/>
          </a:xfrm>
          <a:prstGeom prst="ellipse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5D31C20E-D7FF-E6C0-80C0-59F0D97AA9BE}"/>
              </a:ext>
            </a:extLst>
          </p:cNvPr>
          <p:cNvSpPr/>
          <p:nvPr/>
        </p:nvSpPr>
        <p:spPr>
          <a:xfrm>
            <a:off x="4696968" y="3627120"/>
            <a:ext cx="164592" cy="164592"/>
          </a:xfrm>
          <a:prstGeom prst="ellipse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08689767-ABDC-2170-5DC1-3AE1E6C7921D}"/>
              </a:ext>
            </a:extLst>
          </p:cNvPr>
          <p:cNvSpPr/>
          <p:nvPr/>
        </p:nvSpPr>
        <p:spPr>
          <a:xfrm>
            <a:off x="5047488" y="2641210"/>
            <a:ext cx="3822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endParaRPr lang="en-US" sz="125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4AC8945C-1339-0286-1B6B-B0C28125CDFB}"/>
              </a:ext>
            </a:extLst>
          </p:cNvPr>
          <p:cNvSpPr/>
          <p:nvPr/>
        </p:nvSpPr>
        <p:spPr>
          <a:xfrm>
            <a:off x="5047488" y="2587635"/>
            <a:ext cx="3822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tools be used?</a:t>
            </a:r>
            <a:endParaRPr lang="en-US" sz="1250" dirty="0"/>
          </a:p>
          <a:p>
            <a:r>
              <a:rPr lang="en-US" sz="1000" dirty="0">
                <a:solidFill>
                  <a:srgbClr val="C7C7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to inform final development, guidance and maintenance protocols.</a:t>
            </a:r>
            <a:endParaRPr lang="en-US" sz="125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E1F0ED07-2FBB-FB21-CF42-C56E40A8F9FC}"/>
              </a:ext>
            </a:extLst>
          </p:cNvPr>
          <p:cNvSpPr/>
          <p:nvPr/>
        </p:nvSpPr>
        <p:spPr>
          <a:xfrm>
            <a:off x="4696968" y="1069848"/>
            <a:ext cx="27143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</a:t>
            </a:r>
            <a:endParaRPr lang="en-US" sz="2400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26F7E527-626E-B0D7-9F3D-2E133536EC81}"/>
              </a:ext>
            </a:extLst>
          </p:cNvPr>
          <p:cNvSpPr/>
          <p:nvPr/>
        </p:nvSpPr>
        <p:spPr>
          <a:xfrm>
            <a:off x="5047488" y="3642489"/>
            <a:ext cx="3822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outputs to inform collaborations with policy teams &amp; nature science experts</a:t>
            </a:r>
          </a:p>
          <a:p>
            <a:r>
              <a:rPr lang="en-US" sz="1000" dirty="0">
                <a:solidFill>
                  <a:srgbClr val="C7C7C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Indicator work has informed engagement with Defra biodiversity indicators team </a:t>
            </a:r>
            <a:r>
              <a:rPr lang="en-US" sz="1000">
                <a:solidFill>
                  <a:srgbClr val="C7C7C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and JNCC.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12a5d77-fb98-4eee-af32-1334d8f04a53}" enabled="0" method="" siteId="{912a5d77-fb98-4eee-af32-1334d8f04a5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1111</Words>
  <Application>Microsoft Macintosh PowerPoint</Application>
  <PresentationFormat>On-screen Show (16:9)</PresentationFormat>
  <Paragraphs>197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Mosedale, Jonathan</cp:lastModifiedBy>
  <cp:revision>7</cp:revision>
  <dcterms:created xsi:type="dcterms:W3CDTF">2026-07-16T10:43:35Z</dcterms:created>
  <dcterms:modified xsi:type="dcterms:W3CDTF">2026-07-21T10:18:52Z</dcterms:modified>
</cp:coreProperties>
</file>